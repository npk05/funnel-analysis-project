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640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53312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2286000" y="2468880"/>
            <a:ext cx="45720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2697480"/>
            <a:ext cx="21031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6974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CONVERSION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03320" y="2697480"/>
            <a:ext cx="2103120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03320" y="26974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RETENTION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697480"/>
            <a:ext cx="2103120" cy="40233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26974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FULFILMENT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1572768" cy="804672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34M+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48256" y="3337560"/>
            <a:ext cx="1572768" cy="804672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48256" y="336499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48256" y="374904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</a:rPr>
              <a:t>Datasets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30752" y="3337560"/>
            <a:ext cx="1572768" cy="804672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0752" y="336499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30752" y="374904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</a:rPr>
              <a:t>Phases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13248" y="3337560"/>
            <a:ext cx="1572768" cy="804672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13248" y="336499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13248" y="374904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</a:rPr>
              <a:t>Stat tests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95744" y="3337560"/>
            <a:ext cx="1572768" cy="804672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95744" y="336499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95744" y="374904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D"/>
                </a:solidFill>
              </a:rPr>
              <a:t>Charts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99CC"/>
                </a:solidFill>
              </a:rPr>
              <a:t>Google Merchandise Store  ·  Instacart Grocery Delivery  ·  Olist Brazilian E-Commerce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688"/>
                </a:solidFill>
              </a:rPr>
              <a:t>github.com/NPK05/funnel-analysis-project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Methodology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1545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Problem Definition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" y="17830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Hypotheses, KPIs, analytical questions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30552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13055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" y="2167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Environment Setup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" y="24048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Python venv, Git/GitHub connected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752344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752344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752344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" y="2788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" y="30266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38 issues identified and resolved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374136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374136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" y="3410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Exploratory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" y="36484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16 charts, 26 key patterns per dataset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995928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995928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99592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8952" y="4032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Core Funnel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Conversion rates, revenue leakage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508760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1508760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93792" y="1545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Statistical Testing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3792" y="17830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Chi-square, Mann-Whitney U, Spearman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130552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2130552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213055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93792" y="2167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24048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15 interactive Plotly charts built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752344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2752344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2752344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93792" y="2788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Business Insights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93792" y="30266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Recommendations with revenue impact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374136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54880" y="3374136"/>
            <a:ext cx="384048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0" y="3374136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193792" y="3410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Cross-dataset Comparison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93792" y="36484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Three funnel archetypes contrasted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995928"/>
            <a:ext cx="41605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54880" y="3995928"/>
            <a:ext cx="38404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54880" y="3995928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93792" y="4032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Portfolio Packaging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93792" y="4270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GitHub README, report, dashboard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Descriptions &amp; Cleaning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Google Merchandise Store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26771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719,386 events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52374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14,701 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77977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Nov 2020 - Jan 2021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0540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</a:rPr>
              <a:t>34M+ total rows across all datasets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82112" y="14630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82112" y="1463040"/>
            <a:ext cx="27432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82112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RETENTION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8653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Instacart Grocery Delivery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26771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33.8M rows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52374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206,209 users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77977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Historical 2017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0540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</a:rPr>
              <a:t>34M+ total rows across all datasets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9904" y="14630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9904" y="1463040"/>
            <a:ext cx="274320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9904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FULFILMENT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1865376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Olist Brazilian E-Commerce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9632" y="2267712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99,441 orders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2523744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99,441 customers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99632" y="2779776"/>
            <a:ext cx="2542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Sep 2016 - Oct 2018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99632" y="305409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34M+ total rows across all datasets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401568"/>
            <a:ext cx="8595360" cy="749808"/>
          </a:xfrm>
          <a:prstGeom prst="rect">
            <a:avLst/>
          </a:prstGeom>
          <a:solidFill>
            <a:srgbClr val="FFF8E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401568"/>
            <a:ext cx="54864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343814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5000"/>
                </a:solidFill>
              </a:rPr>
              <a:t>38 Data Quality Issues Resolved  ·  Core Principle: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36941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4000"/>
                </a:solidFill>
              </a:rPr>
              <a:t>Never fill blindly. Null values were categorised as random missing, structural missing, or not-random missing (the signal). Every decision documented.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 MERCH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- Key Findings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4864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CVR (ATC→Purchase)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5728" y="1508760"/>
            <a:ext cx="54864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05456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05456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drop-off (ATC→Checkout)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17136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17136" y="1508760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$552K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(3 months)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38544" y="1508760"/>
            <a:ext cx="210312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38544" y="1508760"/>
            <a:ext cx="54864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48272" y="1581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$65.12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48272" y="20391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per session</a:t>
            </a:r>
            <a:endParaRPr lang="en-US" sz="1000" dirty="0"/>
          </a:p>
        </p:txBody>
      </p:sp>
      <p:pic>
        <p:nvPicPr>
          <p:cNvPr id="23" name="Image 0" descr="/home/claude/dashboard_extracted/charts/google/07_core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78608"/>
            <a:ext cx="4114800" cy="16459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617720" y="2596896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17720" y="2596896"/>
            <a:ext cx="54864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36592" y="26151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Hypothesis disproved: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36592" y="28163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Mobile (28.25%) vs desktop (27.28%) — p=0.208, NOT significant. Problem is checkout friction, not mobile UX.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17720" y="3154680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17720" y="3154680"/>
            <a:ext cx="54864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36592" y="3172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Monthly cohorts: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36592" y="33741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Nov CVR 71.4% vs Dec 26.5% vs Jan 19.8%. Fundamentally different user intent cohorts.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17720" y="3712464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17720" y="3712464"/>
            <a:ext cx="54864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736592" y="37307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Category gap: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36592" y="39319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Notebooks &amp; Journals: 0.2% CVR catastrophically low — 16,514 ATCs, only 36 purchases.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 MERCH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Analysis - Visual Deep Dive</a:t>
            </a:r>
            <a:endParaRPr lang="en-US" sz="2800" dirty="0"/>
          </a:p>
        </p:txBody>
      </p:sp>
      <p:pic>
        <p:nvPicPr>
          <p:cNvPr id="7" name="Image 0" descr="/home/claude/dashboard_extracted/charts/google/10_monthly_cohort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4206240" cy="1664208"/>
          </a:xfrm>
          <a:prstGeom prst="rect">
            <a:avLst/>
          </a:prstGeom>
        </p:spPr>
      </p:pic>
      <p:pic>
        <p:nvPicPr>
          <p:cNvPr id="8" name="Image 1" descr="/home/claude/dashboard_extracted/charts/google/04_category_atc_vs_purc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81328"/>
            <a:ext cx="4206240" cy="1664208"/>
          </a:xfrm>
          <a:prstGeom prst="rect">
            <a:avLst/>
          </a:prstGeom>
        </p:spPr>
      </p:pic>
      <p:pic>
        <p:nvPicPr>
          <p:cNvPr id="9" name="Image 2" descr="/home/claude/dashboard_extracted/charts/google/06_price_sensi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246120"/>
            <a:ext cx="4206240" cy="1481328"/>
          </a:xfrm>
          <a:prstGeom prst="rect">
            <a:avLst/>
          </a:prstGeom>
        </p:spPr>
      </p:pic>
      <p:pic>
        <p:nvPicPr>
          <p:cNvPr id="10" name="Image 3" descr="/home/claude/dashboard_extracted/charts/google/08_device_fun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246120"/>
            <a:ext cx="4206240" cy="1481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4320" y="314553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1: Monthly CVR cohorts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4663440" y="314553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2: Category ATC vs Purchase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274320" y="4727448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3: Price sensitivity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663440" y="4727448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4: Device funnel comparison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INSTACART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Funnel - Key Findings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4864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rate (6+ orders) CI [75.9%, 76.2%]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5728" y="1508760"/>
            <a:ext cx="54864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05456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49,404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05456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at risk — stop at 3-5 orders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17136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17136" y="1508760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21.7pp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gap — Weekly 81% vs Monthly 59.3%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38544" y="1508760"/>
            <a:ext cx="210312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38544" y="1508760"/>
            <a:ext cx="54864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48272" y="1581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48272" y="20391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ratio — Weekly vs Monthly users</a:t>
            </a:r>
            <a:endParaRPr lang="en-US" sz="1000" dirty="0"/>
          </a:p>
        </p:txBody>
      </p:sp>
      <p:pic>
        <p:nvPicPr>
          <p:cNvPr id="23" name="Image 0" descr="/home/claude/dashboard_extracted/charts/instacart/08_cadence_re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78608"/>
            <a:ext cx="4114800" cy="16459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617720" y="2596896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17720" y="2596896"/>
            <a:ext cx="54864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36592" y="26151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Strongest finding in project: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36592" y="28163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Weekly users retain at 81.0% vs monthly at 59.3% — 21.7pp gap. Chi-square = 2,731, p=0.000000. 5x LTV difference.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17720" y="3154680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17720" y="3154680"/>
            <a:ext cx="54864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36592" y="3172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Critical intervention point: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36592" y="33741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Steepest drop is between order 4 and 5 — losing 10.9% at a single step. This is 2x the average drop rate.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17720" y="3712464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17720" y="3712464"/>
            <a:ext cx="54864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736592" y="37307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Cadence is everything: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36592" y="39319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Weekly users place 33.8 orders on average vs 6.7 for monthly. Converting monthly to bi-weekly = 22pp loyalty gain.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INSTACART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Analysis - Visual Deep Dive</a:t>
            </a:r>
            <a:endParaRPr lang="en-US" sz="2800" dirty="0"/>
          </a:p>
        </p:txBody>
      </p:sp>
      <p:pic>
        <p:nvPicPr>
          <p:cNvPr id="7" name="Image 0" descr="/home/claude/dashboard_extracted/charts/instacart/06_retention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4206240" cy="1664208"/>
          </a:xfrm>
          <a:prstGeom prst="rect">
            <a:avLst/>
          </a:prstGeom>
        </p:spPr>
      </p:pic>
      <p:pic>
        <p:nvPicPr>
          <p:cNvPr id="8" name="Image 1" descr="/home/claude/dashboard_extracted/charts/instacart/07_department_ret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81328"/>
            <a:ext cx="4206240" cy="1664208"/>
          </a:xfrm>
          <a:prstGeom prst="rect">
            <a:avLst/>
          </a:prstGeom>
        </p:spPr>
      </p:pic>
      <p:pic>
        <p:nvPicPr>
          <p:cNvPr id="9" name="Image 2" descr="/home/claude/dashboard_extracted/charts/instacart/03_reorder_ca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246120"/>
            <a:ext cx="4206240" cy="1481328"/>
          </a:xfrm>
          <a:prstGeom prst="rect">
            <a:avLst/>
          </a:prstGeom>
        </p:spPr>
      </p:pic>
      <p:pic>
        <p:nvPicPr>
          <p:cNvPr id="10" name="Image 3" descr="/home/claude/dashboard_extracted/charts/instacart/02_order_tim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246120"/>
            <a:ext cx="4206240" cy="1481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4320" y="314553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5: Retention funnel stages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4663440" y="314553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6: Department retention rates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274320" y="4727448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7: Reorder cadence distribution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663440" y="4727448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8: Order timing heatmap (Sat 10am peak)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Funnel - Key Findings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4864" cy="914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rate CI [96.9%, 97.1%]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5728" y="1508760"/>
            <a:ext cx="54864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05456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8.11%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05456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CI [7.94%, 8.28%]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17136" y="1508760"/>
            <a:ext cx="201168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17136" y="1508760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5819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1.73pts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2039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gap — Late 2.56 vs On-time 4.29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38544" y="1508760"/>
            <a:ext cx="2103120" cy="91440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38544" y="1508760"/>
            <a:ext cx="54864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48272" y="15819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R$1.85M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48272" y="20391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— direct + reputation</a:t>
            </a:r>
            <a:endParaRPr lang="en-US" sz="1000" dirty="0"/>
          </a:p>
        </p:txBody>
      </p:sp>
      <p:pic>
        <p:nvPicPr>
          <p:cNvPr id="23" name="Image 0" descr="/home/claude/dashboard_extracted/charts/olist/06_fulfilment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78608"/>
            <a:ext cx="4114800" cy="16459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617720" y="2596896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17720" y="2596896"/>
            <a:ext cx="54864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36592" y="261518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Non-linear threshold effect: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36592" y="28163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Crossing from early to late drops median review 5→2 stars — a cliff, not gradient. Once &gt;1 week late, 68-69% give 1 star.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17720" y="3154680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17720" y="3154680"/>
            <a:ext cx="54864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36592" y="3172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Geographic gap proven: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36592" y="33741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AL (23.9% late) has 4x the rate of SP (5.9%). RJ is highest-volume problem at 13.5% across 12,350 orders.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617720" y="3712464"/>
            <a:ext cx="420624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17720" y="3712464"/>
            <a:ext cx="54864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736592" y="373075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</a:rPr>
              <a:t>Seller failure is largest drop: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36592" y="39319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1,623 orders approved but not shipped. Customers paid and received nothing.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Analysis - Visual Deep Dive</a:t>
            </a:r>
            <a:endParaRPr lang="en-US" sz="2800" dirty="0"/>
          </a:p>
        </p:txBody>
      </p:sp>
      <p:pic>
        <p:nvPicPr>
          <p:cNvPr id="7" name="Image 0" descr="/home/claude/dashboard_extracted/charts/olist/03_delay_vs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4206240" cy="1024128"/>
          </a:xfrm>
          <a:prstGeom prst="rect">
            <a:avLst/>
          </a:prstGeom>
        </p:spPr>
      </p:pic>
      <p:pic>
        <p:nvPicPr>
          <p:cNvPr id="8" name="Image 1" descr="/home/claude/dashboard_extracted/charts/olist/02_geographic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81328"/>
            <a:ext cx="4206240" cy="1664208"/>
          </a:xfrm>
          <a:prstGeom prst="rect">
            <a:avLst/>
          </a:prstGeom>
        </p:spPr>
      </p:pic>
      <p:pic>
        <p:nvPicPr>
          <p:cNvPr id="9" name="Image 2" descr="/home/claude/dashboard_extracted/charts/olist/04_review_score_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596896"/>
            <a:ext cx="4206240" cy="1371600"/>
          </a:xfrm>
          <a:prstGeom prst="rect">
            <a:avLst/>
          </a:prstGeom>
        </p:spPr>
      </p:pic>
      <p:pic>
        <p:nvPicPr>
          <p:cNvPr id="10" name="Image 3" descr="/home/claude/dashboard_extracted/charts/olist/01_monthly_order_volu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246120"/>
            <a:ext cx="4206240" cy="7223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4320" y="250545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9: Delivery delay vs review score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4663440" y="314553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10: Geographic late rate by state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274320" y="3968496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11: Review score distribution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663440" y="3968496"/>
            <a:ext cx="4206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A99"/>
                </a:solidFill>
              </a:rPr>
              <a:t>Fig 12: Monthly order volume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STATISTICS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Results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8595360" cy="296265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Comparison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Conclusion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Chi-square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Google Merch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Mobile vs Desktop CVR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0.208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63946"/>
                          </a:solidFill>
                        </a:rPr>
                        <a:t>NOT SIGNIFICANT - Device not the problem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Chi-square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Google Merch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Campus vs Apparel CVR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&lt;0.001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9D8F"/>
                          </a:solidFill>
                        </a:rPr>
                        <a:t>SIGNIFICANT - Category differences real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Chi-square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Google Merch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Nov vs Dec CVR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&lt;0.001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9D8F"/>
                          </a:solidFill>
                        </a:rPr>
                        <a:t>SIGNIFICANT - Different user cohorts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Chi-square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Instacart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Weekly vs Monthly loyalty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0.000000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HIGHLY SIGNIFICANT - Strongest finding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Mann-Whitney 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Instacart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Weekly vs Monthly orders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0.000000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A9D8F"/>
                          </a:solidFill>
                        </a:rPr>
                        <a:t>HIGHLY SIGNIFICANT - 5x LTV difference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Mann-Whitney 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Olist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Late vs On-time review scores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0.000000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</a:rPr>
                        <a:t>HIGHLY SIGNIFICANT - 1.73pt gap proven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Spearman 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Olist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Delay days vs review score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0.000000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A261"/>
                          </a:solidFill>
                        </a:rPr>
                        <a:t>SIGNIFICANT but WEAK - Non-linear effect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Wilson CI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Instacart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Loyalty rate 76.0%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[75.9%, 76.2%]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A9D8F"/>
                          </a:solidFill>
                        </a:rPr>
                        <a:t>VERY TIGHT CI - Most precise metric (0.37pp)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599" y="896112"/>
            <a:ext cx="89958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 - Prioritised by Revenue Impact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74320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G  HIGH PRIORITY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Fix cart-to-checkout CTA friction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</a:rPr>
              <a:t>Est. impact: $46K/quarter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274320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5054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G  HIGH PRIORITY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807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Investigate Notebooks &amp; Journals 0.2% CVR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</a:rPr>
              <a:t>Est. impact: Quick win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82112" y="1481328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82112" y="1481328"/>
            <a:ext cx="274320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55264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  HIGH 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3552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Intervene at order 4-5 with nudge/discount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73552" y="21396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</a:rPr>
              <a:t>Est. impact: ~22,500 users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82112" y="2505456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82112" y="2505456"/>
            <a:ext cx="274320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55264" y="25054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  HIGH PRIORITY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3552" y="2807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Cadence acceleration: monthly to bi-weekly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73552" y="316382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</a:rPr>
              <a:t>Est. impact: 22pp loyalty gain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9904" y="1481328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89904" y="1481328"/>
            <a:ext cx="274320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63056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  HIGH PRIORITY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81344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Fix RJ delivery reliability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81344" y="21396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Est. impact: ~R$269K direct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9904" y="2505456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89904" y="2505456"/>
            <a:ext cx="274320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63056" y="25054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  HIGH PRIORITY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81344" y="280720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Late delivery early warning system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81344" y="316382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6F51"/>
                </a:solidFill>
              </a:rPr>
              <a:t>Est. impact: Protect R$1.35M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480560"/>
            <a:ext cx="219456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44805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G = Google Merch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26080" y="4480560"/>
            <a:ext cx="219456" cy="21945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82112" y="44805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I = Instacart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03520" y="4480560"/>
            <a:ext cx="219456" cy="21945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59552" y="44805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</a:rPr>
              <a:t>O = Olist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D"/>
                </a:solidFill>
              </a:rPr>
              <a:t>Funnel Analysis Portfolio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COMPARISON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Comparison - Three Funnel Archetypes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07792" y="1481328"/>
            <a:ext cx="1993392" cy="5120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07792" y="1481328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Merch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92624" y="1481328"/>
            <a:ext cx="1993392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92624" y="1481328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Instacart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RETENTION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77456" y="1481328"/>
            <a:ext cx="1993392" cy="5120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77456" y="1481328"/>
            <a:ext cx="1993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Olist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FULFILMENT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66544"/>
            <a:ext cx="87416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Completion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80944" y="2121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32.4%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65776" y="2121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76.0%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50608" y="2121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97.0%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8741664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25786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Biggest drop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80944" y="2578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ATC→Checkout 49%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65776" y="2578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Active→Loyal 24%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50608" y="2578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Approved→Shipped 1.6%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80944"/>
            <a:ext cx="87416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0358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Root cause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80944" y="30358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UX/price friction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65776" y="30358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Habit not formed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50608" y="30358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Seller/logistics failure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438144"/>
            <a:ext cx="8741664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4930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Intervention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80944" y="34930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Reduce checkout friction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65776" y="34930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Nudge at order 4-5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50608" y="34930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Accountability + infra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895344"/>
            <a:ext cx="87416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39502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Revenue impact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80944" y="3950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$552K leakage (3mo)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65776" y="3950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5x LTV gap weekly/monthly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50608" y="39502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R$1.85M at risk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352544"/>
            <a:ext cx="8741664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7472" y="4407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</a:rPr>
              <a:t>Peak behaviour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80944" y="4407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Wednesday office hours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65776" y="4407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Saturday 10am grocery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50608" y="44074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</a:rPr>
              <a:t>November Black Friday BR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809744"/>
            <a:ext cx="54864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809744"/>
            <a:ext cx="8595360" cy="329184"/>
          </a:xfrm>
          <a:prstGeom prst="rect">
            <a:avLst/>
          </a:prstGeom>
          <a:solidFill>
            <a:srgbClr val="FFF8E8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1480" y="480974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5000"/>
                </a:solidFill>
              </a:rPr>
              <a:t>Core insight: The right metric and intervention are completely determined by the funnel archetype. Wrong archetype = misleading conclusions.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8600" y="4846320"/>
            <a:ext cx="54864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DD"/>
                </a:solidFill>
              </a:rPr>
              <a:t>Funnel Analysis Portfolio · NPK05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4846320"/>
            <a:ext cx="3429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BDD"/>
                </a:solidFill>
              </a:rPr>
              <a:t>github.com/NPK05/funnel-analysis-project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1170432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4206240" cy="960120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336" y="14447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Repository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7373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Public repo — all notebooks, scripts, outputs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" y="19933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</a:rPr>
              <a:t>github.com/NPK05/funnel-analysis-project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206240" cy="960120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28616" y="14447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Jupyter Notebooks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28616" y="17373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4 notebooks covering all 10 analytical phases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28616" y="19933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</a:rPr>
              <a:t>01_google_merch · 02_instacart · 03_olist · 04_comparison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206240" cy="960120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336" y="25420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Interactive Charts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" y="2834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Plotly HTML charts covering all 3 datasets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3090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</a:rPr>
              <a:t>outputs/dashboard/ — fully interactive in browser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468880"/>
            <a:ext cx="4206240" cy="960120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46888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28616" y="25420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28616" y="2834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Live dashboard with dataset selector + tabs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28616" y="3090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</a:rPr>
              <a:t>Deployed on Streamlit Community Cloud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206240" cy="960120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" y="3639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Cleaned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39319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6 production-ready CSV files (34M+ rows)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" y="41879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</a:rPr>
              <a:t>Reproducible from notebooks — excluded from Git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206240" cy="960120"/>
          </a:xfrm>
          <a:prstGeom prst="rect">
            <a:avLst/>
          </a:prstGeom>
          <a:solidFill>
            <a:srgbClr val="253355"/>
          </a:solidFill>
          <a:ln w="12700">
            <a:solidFill>
              <a:srgbClr val="3A4E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3566160"/>
            <a:ext cx="54864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28616" y="3639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This Report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28616" y="39319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DD"/>
                </a:solidFill>
              </a:rPr>
              <a:t>Full PDF + DOCX documentation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28616" y="41879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896"/>
                </a:solidFill>
              </a:rPr>
              <a:t>Funnel Analysis Portfolio Report · March 2026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C30"/>
          </a:solidFill>
          <a:ln w="12700">
            <a:solidFill>
              <a:srgbClr val="11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88"/>
                </a:solidFill>
              </a:rPr>
              <a:t>Funnel Analysis Portfolio Project  ·  NPK05  ·  github.com/NPK05/funnel-analysis-project  ·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1371</Words>
  <Application>Microsoft Office PowerPoint</Application>
  <PresentationFormat>On-screen Show (16:9)</PresentationFormat>
  <Paragraphs>305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Funnel Analysis Portfolio Project</dc:title>
  <dc:subject>PptxGenJS Presentation</dc:subject>
  <dc:creator>NPK05</dc:creator>
  <cp:lastModifiedBy>Pavan Kumar Nallabothula</cp:lastModifiedBy>
  <cp:revision>2</cp:revision>
  <dcterms:created xsi:type="dcterms:W3CDTF">2026-03-18T23:30:51Z</dcterms:created>
  <dcterms:modified xsi:type="dcterms:W3CDTF">2026-03-18T23:49:04Z</dcterms:modified>
</cp:coreProperties>
</file>